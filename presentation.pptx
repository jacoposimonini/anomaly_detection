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823FE8-6763-47A5-9A6F-D1FE308DA8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6164EC-A02E-48CA-8007-7D7682A4DC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E5EF4AA-734C-4EB2-9F6D-079DF34C6D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FBD6C5C-26E7-47F0-BA9E-E3B4A6D5F0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CB15367-C974-464A-8460-F07FE4927E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BD17C33-5A6C-4B20-B498-33F2C75947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0D71EB8-0F47-4653-913B-51E410F6D3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D61D42C-311A-43C4-936D-D6A70799DF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C4E7C60-BC9F-4748-AC2C-94C2ADABED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0D67261-A796-4512-9239-09F3980966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6F0BACD-3B16-43BB-BECB-6B728FE6AC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1D6053-B45C-4CC0-BCA7-F9E62B948DC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43CAE5-0E99-4D93-A0CD-10A20BE354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2AC5AF-5E74-496B-AC4B-05ABCC7DA25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438E55-5E4B-4BE2-9C2C-E6EA3EEC07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edit Master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B3C06C-B395-4FF0-9DF8-2CA4BD2A36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388F24-3423-4B02-AF6D-81749AE348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69A241-28A6-40FD-AB16-5B0F898EFD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8C5952-EB80-4A0B-A64C-1CE0C5AAB0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417AF7-EDE1-45B6-BAE5-86A7E8030A9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ADB4A6-2B4C-4A8E-92FE-B01DAE62A8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353379-5773-4D3F-95C7-AF9A22D670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914400" y="1691640"/>
            <a:ext cx="10359720" cy="14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1a1a1a"/>
                </a:solidFill>
                <a:latin typeface="Poppins"/>
              </a:rPr>
              <a:t>Audio Anomaly Detection on Water Pumps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914400" y="3657600"/>
            <a:ext cx="1035972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2200" spc="-1" strike="noStrike">
                <a:solidFill>
                  <a:srgbClr val="444444"/>
                </a:solidFill>
                <a:latin typeface="Poppins"/>
              </a:rPr>
              <a:t>Learning a ConvAE Latent Space for Unsupervised Fault Detection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14400" y="5029200"/>
            <a:ext cx="10359720" cy="53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777777"/>
                </a:solidFill>
                <a:latin typeface="Poppins"/>
              </a:rPr>
              <a:t>Jacopo Simonini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Poppins"/>
              </a:rPr>
              <a:t>Digital Forensics and Biometrics — A.A. 2025/2026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ounded Rectangle 1"/>
          <p:cNvSpPr/>
          <p:nvPr/>
        </p:nvSpPr>
        <p:spPr>
          <a:xfrm>
            <a:off x="567000" y="457200"/>
            <a:ext cx="118836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MOTIVATION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What is Acoustic Anomaly Detection?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ounded Rectangle 3"/>
          <p:cNvSpPr/>
          <p:nvPr/>
        </p:nvSpPr>
        <p:spPr>
          <a:xfrm>
            <a:off x="567000" y="2468880"/>
            <a:ext cx="338076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795600" y="2880360"/>
            <a:ext cx="29235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2000" spc="-1" strike="noStrike">
                <a:solidFill>
                  <a:srgbClr val="1a1a1a"/>
                </a:solidFill>
                <a:latin typeface="Poppins"/>
              </a:rPr>
              <a:t>Condition Monitoring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841320" y="4023360"/>
            <a:ext cx="2832120" cy="7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Detect machine faults early, directly from the sound they emit.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ounded Rectangle 6"/>
          <p:cNvSpPr/>
          <p:nvPr/>
        </p:nvSpPr>
        <p:spPr>
          <a:xfrm>
            <a:off x="4405320" y="2468880"/>
            <a:ext cx="338076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4633920" y="2880360"/>
            <a:ext cx="2923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2000" spc="-1" strike="noStrike">
                <a:solidFill>
                  <a:srgbClr val="1a1a1a"/>
                </a:solidFill>
                <a:latin typeface="Poppins"/>
              </a:rPr>
              <a:t>Unsupervised / One-Class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4679640" y="4023360"/>
            <a:ext cx="2832120" cy="7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Real deployments only have healthy audio; faults are rare and unlabeled.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9"/>
          <p:cNvSpPr/>
          <p:nvPr/>
        </p:nvSpPr>
        <p:spPr>
          <a:xfrm>
            <a:off x="8243640" y="2468880"/>
            <a:ext cx="338076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8472240" y="2880360"/>
            <a:ext cx="29235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2000" spc="-1" strike="noStrike">
                <a:solidFill>
                  <a:srgbClr val="1a1a1a"/>
                </a:solidFill>
                <a:latin typeface="Poppins"/>
              </a:rPr>
              <a:t>Represent → Detect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8517960" y="4023360"/>
            <a:ext cx="28321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First learn a feature space, then flag samples that fall outside it.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ounded Rectangle 1"/>
          <p:cNvSpPr/>
          <p:nvPr/>
        </p:nvSpPr>
        <p:spPr>
          <a:xfrm>
            <a:off x="567000" y="457200"/>
            <a:ext cx="88668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DATASET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Water-Pump Audio Dataset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567000" y="1965960"/>
            <a:ext cx="27640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1a1a1a"/>
                </a:solidFill>
                <a:latin typeface="Poppins"/>
              </a:rPr>
              <a:t>4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567000" y="2624400"/>
            <a:ext cx="27640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1300" spc="-1" strike="noStrike">
                <a:solidFill>
                  <a:srgbClr val="444444"/>
                </a:solidFill>
                <a:latin typeface="Poppins"/>
              </a:rPr>
              <a:t>machine IDs (00 / 02 / 04 / 06)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3331440" y="1965960"/>
            <a:ext cx="27640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1a1a1a"/>
                </a:solidFill>
                <a:latin typeface="Poppins"/>
              </a:rPr>
              <a:t>16 kHz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3331440" y="2624400"/>
            <a:ext cx="27640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1300" spc="-1" strike="noStrike">
                <a:solidFill>
                  <a:srgbClr val="444444"/>
                </a:solidFill>
                <a:latin typeface="Poppins"/>
              </a:rPr>
              <a:t>mono audio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6095880" y="1965960"/>
            <a:ext cx="27640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1a1a1a"/>
                </a:solidFill>
                <a:latin typeface="Poppins"/>
              </a:rPr>
              <a:t>9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6095880" y="2624400"/>
            <a:ext cx="27640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1300" spc="-1" strike="noStrike">
                <a:solidFill>
                  <a:srgbClr val="444444"/>
                </a:solidFill>
                <a:latin typeface="Poppins"/>
              </a:rPr>
              <a:t>windows per 10 s clip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9"/>
          <p:cNvSpPr/>
          <p:nvPr/>
        </p:nvSpPr>
        <p:spPr>
          <a:xfrm>
            <a:off x="8860320" y="1965960"/>
            <a:ext cx="27640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1a1a1a"/>
                </a:solidFill>
                <a:latin typeface="Poppins"/>
              </a:rPr>
              <a:t>200 / 320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8860320" y="2624400"/>
            <a:ext cx="27640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0" lang="en-US" sz="1300" spc="-1" strike="noStrike">
                <a:solidFill>
                  <a:srgbClr val="444444"/>
                </a:solidFill>
                <a:latin typeface="Poppins"/>
              </a:rPr>
              <a:t>normal / anomaly test files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Picture 11" descr="sample_log_mel_spectrograms.png"/>
          <p:cNvPicPr/>
          <p:nvPr/>
        </p:nvPicPr>
        <p:blipFill>
          <a:blip r:embed="rId1"/>
          <a:stretch/>
        </p:blipFill>
        <p:spPr>
          <a:xfrm>
            <a:off x="2398320" y="3063240"/>
            <a:ext cx="7401240" cy="3154320"/>
          </a:xfrm>
          <a:prstGeom prst="rect">
            <a:avLst/>
          </a:prstGeom>
          <a:ln w="0">
            <a:noFill/>
          </a:ln>
        </p:spPr>
      </p:pic>
      <p:sp>
        <p:nvSpPr>
          <p:cNvPr id="92" name="TextBox 12"/>
          <p:cNvSpPr/>
          <p:nvPr/>
        </p:nvSpPr>
        <p:spPr>
          <a:xfrm>
            <a:off x="567000" y="6309360"/>
            <a:ext cx="110638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777777"/>
                </a:solidFill>
                <a:latin typeface="Poppins"/>
              </a:rPr>
              <a:t>ID 06 is never seen by the AE or the detectors — it appears only in tuning and test data. File-level splits, seed 42.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731520" y="3123720"/>
            <a:ext cx="1072548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1a1a1a"/>
                </a:solidFill>
                <a:latin typeface="Poppins"/>
              </a:rPr>
              <a:t>Data &amp; Preprocessing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ounded Rectangle 1"/>
          <p:cNvSpPr/>
          <p:nvPr/>
        </p:nvSpPr>
        <p:spPr>
          <a:xfrm>
            <a:off x="567000" y="457200"/>
            <a:ext cx="149004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PREPROCESSING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From Waveform to Spectrogram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3"/>
          <p:cNvSpPr/>
          <p:nvPr/>
        </p:nvSpPr>
        <p:spPr>
          <a:xfrm>
            <a:off x="567000" y="1920240"/>
            <a:ext cx="2523960" cy="959760"/>
          </a:xfrm>
          <a:prstGeom prst="roundRect">
            <a:avLst>
              <a:gd name="adj" fmla="val 16667"/>
            </a:avLst>
          </a:prstGeom>
          <a:solidFill>
            <a:srgbClr val="eff2fb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731520" y="2216880"/>
            <a:ext cx="5025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6094ea"/>
                </a:solidFill>
                <a:latin typeface="Poppins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1280160" y="2185560"/>
            <a:ext cx="16552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8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Poppins"/>
              </a:rPr>
              <a:t>Load audio — mono, 16 kHz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ounded Rectangle 6"/>
          <p:cNvSpPr/>
          <p:nvPr/>
        </p:nvSpPr>
        <p:spPr>
          <a:xfrm>
            <a:off x="3411360" y="1920240"/>
            <a:ext cx="2523960" cy="959760"/>
          </a:xfrm>
          <a:prstGeom prst="roundRect">
            <a:avLst>
              <a:gd name="adj" fmla="val 16667"/>
            </a:avLst>
          </a:prstGeom>
          <a:solidFill>
            <a:srgbClr val="eff2fb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3575880" y="2216880"/>
            <a:ext cx="5025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6094ea"/>
                </a:solidFill>
                <a:latin typeface="Poppins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4124520" y="2185560"/>
            <a:ext cx="16552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8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Poppins"/>
              </a:rPr>
              <a:t>Slice — 2 s windows, 1 s hop (9 / clip)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9"/>
          <p:cNvSpPr/>
          <p:nvPr/>
        </p:nvSpPr>
        <p:spPr>
          <a:xfrm>
            <a:off x="6255720" y="1920240"/>
            <a:ext cx="2523960" cy="959760"/>
          </a:xfrm>
          <a:prstGeom prst="roundRect">
            <a:avLst>
              <a:gd name="adj" fmla="val 16667"/>
            </a:avLst>
          </a:prstGeom>
          <a:solidFill>
            <a:srgbClr val="eff2fb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6420600" y="2216880"/>
            <a:ext cx="5025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6094ea"/>
                </a:solidFill>
                <a:latin typeface="Poppins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6969240" y="2078280"/>
            <a:ext cx="165528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8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Poppins"/>
              </a:rPr>
              <a:t>Log-mel spectrogram — 128 × 64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12"/>
          <p:cNvSpPr/>
          <p:nvPr/>
        </p:nvSpPr>
        <p:spPr>
          <a:xfrm>
            <a:off x="9100440" y="1920240"/>
            <a:ext cx="2523960" cy="959760"/>
          </a:xfrm>
          <a:prstGeom prst="roundRect">
            <a:avLst>
              <a:gd name="adj" fmla="val 16667"/>
            </a:avLst>
          </a:prstGeom>
          <a:solidFill>
            <a:srgbClr val="eff2fb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13"/>
          <p:cNvSpPr/>
          <p:nvPr/>
        </p:nvSpPr>
        <p:spPr>
          <a:xfrm>
            <a:off x="9264960" y="2216880"/>
            <a:ext cx="5025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6094ea"/>
                </a:solidFill>
                <a:latin typeface="Poppins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4"/>
          <p:cNvSpPr/>
          <p:nvPr/>
        </p:nvSpPr>
        <p:spPr>
          <a:xfrm>
            <a:off x="9813600" y="2292480"/>
            <a:ext cx="1655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8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Poppins"/>
              </a:rPr>
              <a:t>Normalize to [0,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Picture 15" descr="sample_log_mel_spectrograms.png"/>
          <p:cNvPicPr/>
          <p:nvPr/>
        </p:nvPicPr>
        <p:blipFill>
          <a:blip r:embed="rId1"/>
          <a:stretch/>
        </p:blipFill>
        <p:spPr>
          <a:xfrm>
            <a:off x="2291040" y="3200400"/>
            <a:ext cx="7615800" cy="324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ounded Rectangle 1"/>
          <p:cNvSpPr/>
          <p:nvPr/>
        </p:nvSpPr>
        <p:spPr>
          <a:xfrm>
            <a:off x="567000" y="457200"/>
            <a:ext cx="149004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PREPROCESSING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A Normalization Choice That Matters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Picture 3" descr="db_distribution_fixed_reference.png"/>
          <p:cNvPicPr/>
          <p:nvPr/>
        </p:nvPicPr>
        <p:blipFill>
          <a:blip r:embed="rId1"/>
          <a:stretch/>
        </p:blipFill>
        <p:spPr>
          <a:xfrm>
            <a:off x="1433520" y="1737360"/>
            <a:ext cx="9330840" cy="3291480"/>
          </a:xfrm>
          <a:prstGeom prst="rect">
            <a:avLst/>
          </a:prstGeom>
          <a:ln w="0">
            <a:noFill/>
          </a:ln>
        </p:spPr>
      </p:pic>
      <p:sp>
        <p:nvSpPr>
          <p:cNvPr id="112" name="TextBox 4"/>
          <p:cNvSpPr/>
          <p:nvPr/>
        </p:nvSpPr>
        <p:spPr>
          <a:xfrm>
            <a:off x="1433520" y="5584320"/>
            <a:ext cx="3017160" cy="67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100" spc="-1" strike="noStrike">
                <a:solidFill>
                  <a:srgbClr val="1a1a1a"/>
                </a:solidFill>
                <a:latin typeface="Poppins"/>
              </a:rPr>
              <a:t>Fixed reference preserves loudness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4679640" y="5460120"/>
            <a:ext cx="6084720" cy="9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Convert to dB with ref = 1.0, not per-image max.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A per-image max would erase absolute intensity across files.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Clip to 1st / 99th percentile (≈ −46 / −10 dB), then map to [0, 1].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"/>
          <p:cNvSpPr/>
          <p:nvPr/>
        </p:nvSpPr>
        <p:spPr>
          <a:xfrm>
            <a:off x="731520" y="3123720"/>
            <a:ext cx="1072548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1a1a1a"/>
                </a:solidFill>
                <a:latin typeface="Poppins"/>
              </a:rPr>
              <a:t>The ConvAE Representation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ounded Rectangle 1"/>
          <p:cNvSpPr/>
          <p:nvPr/>
        </p:nvSpPr>
        <p:spPr>
          <a:xfrm>
            <a:off x="567000" y="457200"/>
            <a:ext cx="68544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MODEL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Convolutional Autoencoder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ounded Rectangle 3"/>
          <p:cNvSpPr/>
          <p:nvPr/>
        </p:nvSpPr>
        <p:spPr>
          <a:xfrm>
            <a:off x="822960" y="2377440"/>
            <a:ext cx="868320" cy="2102760"/>
          </a:xfrm>
          <a:prstGeom prst="roundRect">
            <a:avLst>
              <a:gd name="adj" fmla="val 16667"/>
            </a:avLst>
          </a:prstGeom>
          <a:solidFill>
            <a:srgbClr val="e9eefb"/>
          </a:solidFill>
          <a:ln w="15875">
            <a:solidFill>
              <a:srgbClr val="6094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822960" y="3264480"/>
            <a:ext cx="868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Poppins"/>
              </a:rPr>
              <a:t>32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ounded Rectangle 5"/>
          <p:cNvSpPr/>
          <p:nvPr/>
        </p:nvSpPr>
        <p:spPr>
          <a:xfrm>
            <a:off x="1947600" y="2560320"/>
            <a:ext cx="868320" cy="1737000"/>
          </a:xfrm>
          <a:prstGeom prst="roundRect">
            <a:avLst>
              <a:gd name="adj" fmla="val 16667"/>
            </a:avLst>
          </a:prstGeom>
          <a:solidFill>
            <a:srgbClr val="e9eefb"/>
          </a:solidFill>
          <a:ln w="15875">
            <a:solidFill>
              <a:srgbClr val="6094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1947600" y="3264480"/>
            <a:ext cx="868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Poppins"/>
              </a:rPr>
              <a:t>64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7"/>
          <p:cNvSpPr/>
          <p:nvPr/>
        </p:nvSpPr>
        <p:spPr>
          <a:xfrm>
            <a:off x="3072240" y="2743200"/>
            <a:ext cx="868320" cy="1371240"/>
          </a:xfrm>
          <a:prstGeom prst="roundRect">
            <a:avLst>
              <a:gd name="adj" fmla="val 16667"/>
            </a:avLst>
          </a:prstGeom>
          <a:solidFill>
            <a:srgbClr val="e9eefb"/>
          </a:solidFill>
          <a:ln w="15875">
            <a:solidFill>
              <a:srgbClr val="6094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3072240" y="3264480"/>
            <a:ext cx="868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Poppins"/>
              </a:rPr>
              <a:t>128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ounded Rectangle 9"/>
          <p:cNvSpPr/>
          <p:nvPr/>
        </p:nvSpPr>
        <p:spPr>
          <a:xfrm>
            <a:off x="4197240" y="2926080"/>
            <a:ext cx="868320" cy="1005480"/>
          </a:xfrm>
          <a:prstGeom prst="roundRect">
            <a:avLst>
              <a:gd name="adj" fmla="val 16667"/>
            </a:avLst>
          </a:prstGeom>
          <a:solidFill>
            <a:srgbClr val="e9eefb"/>
          </a:solidFill>
          <a:ln w="15875">
            <a:solidFill>
              <a:srgbClr val="6094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4197240" y="3264480"/>
            <a:ext cx="868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Poppins"/>
              </a:rPr>
              <a:t>256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11"/>
          <p:cNvSpPr/>
          <p:nvPr/>
        </p:nvSpPr>
        <p:spPr>
          <a:xfrm>
            <a:off x="5321880" y="2926080"/>
            <a:ext cx="1051200" cy="1005480"/>
          </a:xfrm>
          <a:prstGeom prst="roundRect">
            <a:avLst>
              <a:gd name="adj" fmla="val 16667"/>
            </a:avLst>
          </a:prstGeom>
          <a:solidFill>
            <a:srgbClr val="6094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12"/>
          <p:cNvSpPr/>
          <p:nvPr/>
        </p:nvSpPr>
        <p:spPr>
          <a:xfrm>
            <a:off x="5321880" y="3173040"/>
            <a:ext cx="10512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Poppins"/>
              </a:rPr>
              <a:t>z∈ℝ⁶⁴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13"/>
          <p:cNvSpPr/>
          <p:nvPr/>
        </p:nvSpPr>
        <p:spPr>
          <a:xfrm>
            <a:off x="6629400" y="2926080"/>
            <a:ext cx="868320" cy="1005480"/>
          </a:xfrm>
          <a:prstGeom prst="roundRect">
            <a:avLst>
              <a:gd name="adj" fmla="val 16667"/>
            </a:avLst>
          </a:prstGeom>
          <a:solidFill>
            <a:srgbClr val="f3e9ec"/>
          </a:solidFill>
          <a:ln w="15875">
            <a:solidFill>
              <a:srgbClr val="e2334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6629400" y="3264480"/>
            <a:ext cx="868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Poppins"/>
              </a:rPr>
              <a:t>256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ounded Rectangle 15"/>
          <p:cNvSpPr/>
          <p:nvPr/>
        </p:nvSpPr>
        <p:spPr>
          <a:xfrm>
            <a:off x="7754040" y="2743200"/>
            <a:ext cx="868320" cy="1371240"/>
          </a:xfrm>
          <a:prstGeom prst="roundRect">
            <a:avLst>
              <a:gd name="adj" fmla="val 16667"/>
            </a:avLst>
          </a:prstGeom>
          <a:solidFill>
            <a:srgbClr val="f3e9ec"/>
          </a:solidFill>
          <a:ln w="15875">
            <a:solidFill>
              <a:srgbClr val="e2334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16"/>
          <p:cNvSpPr/>
          <p:nvPr/>
        </p:nvSpPr>
        <p:spPr>
          <a:xfrm>
            <a:off x="7754040" y="3264480"/>
            <a:ext cx="868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Poppins"/>
              </a:rPr>
              <a:t>128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17"/>
          <p:cNvSpPr/>
          <p:nvPr/>
        </p:nvSpPr>
        <p:spPr>
          <a:xfrm>
            <a:off x="8878680" y="2560320"/>
            <a:ext cx="868320" cy="1737000"/>
          </a:xfrm>
          <a:prstGeom prst="roundRect">
            <a:avLst>
              <a:gd name="adj" fmla="val 16667"/>
            </a:avLst>
          </a:prstGeom>
          <a:solidFill>
            <a:srgbClr val="f3e9ec"/>
          </a:solidFill>
          <a:ln w="15875">
            <a:solidFill>
              <a:srgbClr val="e2334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8878680" y="3264480"/>
            <a:ext cx="868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Poppins"/>
              </a:rPr>
              <a:t>64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ounded Rectangle 19"/>
          <p:cNvSpPr/>
          <p:nvPr/>
        </p:nvSpPr>
        <p:spPr>
          <a:xfrm>
            <a:off x="10003680" y="2377440"/>
            <a:ext cx="868320" cy="2102760"/>
          </a:xfrm>
          <a:prstGeom prst="roundRect">
            <a:avLst>
              <a:gd name="adj" fmla="val 16667"/>
            </a:avLst>
          </a:prstGeom>
          <a:solidFill>
            <a:srgbClr val="f3e9ec"/>
          </a:solidFill>
          <a:ln w="15875">
            <a:solidFill>
              <a:srgbClr val="e2334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20"/>
          <p:cNvSpPr/>
          <p:nvPr/>
        </p:nvSpPr>
        <p:spPr>
          <a:xfrm>
            <a:off x="10003680" y="3264480"/>
            <a:ext cx="868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1a"/>
                </a:solidFill>
                <a:latin typeface="Poppins"/>
              </a:rPr>
              <a:t>32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21"/>
          <p:cNvSpPr/>
          <p:nvPr/>
        </p:nvSpPr>
        <p:spPr>
          <a:xfrm>
            <a:off x="822960" y="4663440"/>
            <a:ext cx="4845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6094ea"/>
                </a:solidFill>
                <a:latin typeface="Poppins"/>
              </a:rPr>
              <a:t>Encoder  (spectrogram → latent)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22"/>
          <p:cNvSpPr/>
          <p:nvPr/>
        </p:nvSpPr>
        <p:spPr>
          <a:xfrm>
            <a:off x="6492240" y="4663440"/>
            <a:ext cx="4845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23343"/>
                </a:solidFill>
                <a:latin typeface="Poppins"/>
              </a:rPr>
              <a:t>Decoder  (latent → reconstruction)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23"/>
          <p:cNvSpPr/>
          <p:nvPr/>
        </p:nvSpPr>
        <p:spPr>
          <a:xfrm>
            <a:off x="567000" y="5532120"/>
            <a:ext cx="3685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a1a1a"/>
                </a:solidFill>
                <a:latin typeface="Poppins"/>
              </a:rPr>
              <a:t>8192 → 64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24"/>
          <p:cNvSpPr/>
          <p:nvPr/>
        </p:nvSpPr>
        <p:spPr>
          <a:xfrm>
            <a:off x="567000" y="6053400"/>
            <a:ext cx="3685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777777"/>
                </a:solidFill>
                <a:latin typeface="Poppins"/>
              </a:rPr>
              <a:t>input values → latent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25"/>
          <p:cNvSpPr/>
          <p:nvPr/>
        </p:nvSpPr>
        <p:spPr>
          <a:xfrm>
            <a:off x="4253040" y="5532120"/>
            <a:ext cx="3685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a1a1a"/>
                </a:solidFill>
                <a:latin typeface="Poppins"/>
              </a:rPr>
              <a:t>128×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26"/>
          <p:cNvSpPr/>
          <p:nvPr/>
        </p:nvSpPr>
        <p:spPr>
          <a:xfrm>
            <a:off x="4253040" y="6053400"/>
            <a:ext cx="3685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777777"/>
                </a:solidFill>
                <a:latin typeface="Poppins"/>
              </a:rPr>
              <a:t>compression ratio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7"/>
          <p:cNvSpPr/>
          <p:nvPr/>
        </p:nvSpPr>
        <p:spPr>
          <a:xfrm>
            <a:off x="7938720" y="5532120"/>
            <a:ext cx="3685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a1a1a"/>
                </a:solidFill>
                <a:latin typeface="Poppins"/>
              </a:rPr>
              <a:t>NORMAL only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28"/>
          <p:cNvSpPr/>
          <p:nvPr/>
        </p:nvSpPr>
        <p:spPr>
          <a:xfrm>
            <a:off x="7938720" y="6053400"/>
            <a:ext cx="3685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777777"/>
                </a:solidFill>
                <a:latin typeface="Poppins"/>
              </a:rPr>
              <a:t>training data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ounded Rectangle 1"/>
          <p:cNvSpPr/>
          <p:nvPr/>
        </p:nvSpPr>
        <p:spPr>
          <a:xfrm>
            <a:off x="567000" y="457200"/>
            <a:ext cx="68544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MODEL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Training Converges Cleanly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Picture 3" descr="convae_training_history.png"/>
          <p:cNvPicPr/>
          <p:nvPr/>
        </p:nvPicPr>
        <p:blipFill>
          <a:blip r:embed="rId1"/>
          <a:stretch/>
        </p:blipFill>
        <p:spPr>
          <a:xfrm>
            <a:off x="567000" y="2371320"/>
            <a:ext cx="7314840" cy="3624120"/>
          </a:xfrm>
          <a:prstGeom prst="rect">
            <a:avLst/>
          </a:prstGeom>
          <a:ln w="0">
            <a:noFill/>
          </a:ln>
        </p:spPr>
      </p:pic>
      <p:sp>
        <p:nvSpPr>
          <p:cNvPr id="146" name="TextBox 4"/>
          <p:cNvSpPr/>
          <p:nvPr/>
        </p:nvSpPr>
        <p:spPr>
          <a:xfrm>
            <a:off x="8293680" y="3081960"/>
            <a:ext cx="3330720" cy="22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2100" spc="-1" strike="noStrike">
                <a:solidFill>
                  <a:srgbClr val="1a1a1a"/>
                </a:solidFill>
                <a:latin typeface="Poppins"/>
              </a:rPr>
              <a:t>Clean convergence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52 epochs, best validation MSE ≈ 0.0073.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Early stopping + reduce-on-plateau scheduler.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Train and validation track closely — no training failure.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ounded Rectangle 1"/>
          <p:cNvSpPr/>
          <p:nvPr/>
        </p:nvSpPr>
        <p:spPr>
          <a:xfrm>
            <a:off x="567000" y="457200"/>
            <a:ext cx="68544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MODEL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Reconstruction Quality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Picture 3" descr="convae_reconstruction_examples.png"/>
          <p:cNvPicPr/>
          <p:nvPr/>
        </p:nvPicPr>
        <p:blipFill>
          <a:blip r:embed="rId1"/>
          <a:stretch/>
        </p:blipFill>
        <p:spPr>
          <a:xfrm>
            <a:off x="567000" y="1920240"/>
            <a:ext cx="6829200" cy="4525920"/>
          </a:xfrm>
          <a:prstGeom prst="rect">
            <a:avLst/>
          </a:prstGeom>
          <a:ln w="0">
            <a:noFill/>
          </a:ln>
        </p:spPr>
      </p:pic>
      <p:sp>
        <p:nvSpPr>
          <p:cNvPr id="150" name="TextBox 4"/>
          <p:cNvSpPr/>
          <p:nvPr/>
        </p:nvSpPr>
        <p:spPr>
          <a:xfrm>
            <a:off x="7808040" y="2913840"/>
            <a:ext cx="3816360" cy="25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2100" spc="-1" strike="noStrike">
                <a:solidFill>
                  <a:srgbClr val="1a1a1a"/>
                </a:solidFill>
                <a:latin typeface="Poppins"/>
              </a:rPr>
              <a:t>The AE rebuilds spectrograms well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Faithful reconstructions on normal windows, as expected.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But it also reconstructs many anomalies acceptably…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…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foreshadowing why plain reconstruction error is a weak score.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731520" y="3123720"/>
            <a:ext cx="1072548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1a1a1a"/>
                </a:solidFill>
                <a:latin typeface="Poppins"/>
              </a:rPr>
              <a:t>Detecting Anomalies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ounded Rectangle 1"/>
          <p:cNvSpPr/>
          <p:nvPr/>
        </p:nvSpPr>
        <p:spPr>
          <a:xfrm>
            <a:off x="567000" y="457200"/>
            <a:ext cx="128880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METHODOLOGY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Two Families of Detectors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585360" y="1627560"/>
            <a:ext cx="109724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77777"/>
                </a:solidFill>
                <a:latin typeface="Poppins"/>
              </a:rPr>
              <a:t>All operate on the frozen ConvAE (latent vector or reconstruction error).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ounded Rectangle 4"/>
          <p:cNvSpPr/>
          <p:nvPr/>
        </p:nvSpPr>
        <p:spPr>
          <a:xfrm>
            <a:off x="567000" y="2514600"/>
            <a:ext cx="5257440" cy="365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Rectangle 5"/>
          <p:cNvSpPr/>
          <p:nvPr/>
        </p:nvSpPr>
        <p:spPr>
          <a:xfrm>
            <a:off x="567000" y="2514600"/>
            <a:ext cx="5257440" cy="658080"/>
          </a:xfrm>
          <a:prstGeom prst="rect">
            <a:avLst/>
          </a:prstGeom>
          <a:solidFill>
            <a:srgbClr val="6094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6"/>
          <p:cNvSpPr/>
          <p:nvPr/>
        </p:nvSpPr>
        <p:spPr>
          <a:xfrm>
            <a:off x="841320" y="2642760"/>
            <a:ext cx="47088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Unsupervised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859680" y="3429000"/>
            <a:ext cx="4708800" cy="13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Reconstruction Error (per-window MSE)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Isolation Forest (latent)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Local Outlier Factor — LOF (latent)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One-Class SVM (latent)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ounded Rectangle 8"/>
          <p:cNvSpPr/>
          <p:nvPr/>
        </p:nvSpPr>
        <p:spPr>
          <a:xfrm>
            <a:off x="6355080" y="2514600"/>
            <a:ext cx="5257440" cy="365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ectangle 9"/>
          <p:cNvSpPr/>
          <p:nvPr/>
        </p:nvSpPr>
        <p:spPr>
          <a:xfrm>
            <a:off x="6355080" y="2514600"/>
            <a:ext cx="5257440" cy="658080"/>
          </a:xfrm>
          <a:prstGeom prst="rect">
            <a:avLst/>
          </a:prstGeom>
          <a:solidFill>
            <a:srgbClr val="e233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6629400" y="2642760"/>
            <a:ext cx="47088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Poppins"/>
              </a:rPr>
              <a:t>Supervised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11"/>
          <p:cNvSpPr/>
          <p:nvPr/>
        </p:nvSpPr>
        <p:spPr>
          <a:xfrm>
            <a:off x="6647760" y="3429000"/>
            <a:ext cx="4708800" cy="10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e23343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SVM-RBF (latent)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e23343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XGBoost (latent)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e23343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SVM on MFCC statistics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ounded Rectangle 1"/>
          <p:cNvSpPr/>
          <p:nvPr/>
        </p:nvSpPr>
        <p:spPr>
          <a:xfrm>
            <a:off x="567000" y="457200"/>
            <a:ext cx="128880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METHODOLOGY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Detectors on the Latent Space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ounded Rectangle 3"/>
          <p:cNvSpPr/>
          <p:nvPr/>
        </p:nvSpPr>
        <p:spPr>
          <a:xfrm>
            <a:off x="567000" y="2468880"/>
            <a:ext cx="338076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4"/>
          <p:cNvSpPr/>
          <p:nvPr/>
        </p:nvSpPr>
        <p:spPr>
          <a:xfrm>
            <a:off x="795600" y="2880360"/>
            <a:ext cx="29235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2000" spc="-1" strike="noStrike">
                <a:solidFill>
                  <a:srgbClr val="1a1a1a"/>
                </a:solidFill>
                <a:latin typeface="Poppins"/>
              </a:rPr>
              <a:t>One-Class SVM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5"/>
          <p:cNvSpPr/>
          <p:nvPr/>
        </p:nvSpPr>
        <p:spPr>
          <a:xfrm>
            <a:off x="841320" y="4023360"/>
            <a:ext cx="28321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Learns a single rigid boundary around normal data.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 6"/>
          <p:cNvSpPr/>
          <p:nvPr/>
        </p:nvSpPr>
        <p:spPr>
          <a:xfrm>
            <a:off x="4405320" y="2468880"/>
            <a:ext cx="338076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7"/>
          <p:cNvSpPr/>
          <p:nvPr/>
        </p:nvSpPr>
        <p:spPr>
          <a:xfrm>
            <a:off x="4633920" y="2880360"/>
            <a:ext cx="29235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2000" spc="-1" strike="noStrike">
                <a:solidFill>
                  <a:srgbClr val="1a1a1a"/>
                </a:solidFill>
                <a:latin typeface="Poppins"/>
              </a:rPr>
              <a:t>Local Outlier Factor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8"/>
          <p:cNvSpPr/>
          <p:nvPr/>
        </p:nvSpPr>
        <p:spPr>
          <a:xfrm>
            <a:off x="4679640" y="4023360"/>
            <a:ext cx="28321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Density-based: flags points in low-density regions.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ounded Rectangle 9"/>
          <p:cNvSpPr/>
          <p:nvPr/>
        </p:nvSpPr>
        <p:spPr>
          <a:xfrm>
            <a:off x="8243640" y="2468880"/>
            <a:ext cx="338076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10"/>
          <p:cNvSpPr/>
          <p:nvPr/>
        </p:nvSpPr>
        <p:spPr>
          <a:xfrm>
            <a:off x="8472240" y="2880360"/>
            <a:ext cx="29235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2000" spc="-1" strike="noStrike">
                <a:solidFill>
                  <a:srgbClr val="1a1a1a"/>
                </a:solidFill>
                <a:latin typeface="Poppins"/>
              </a:rPr>
              <a:t>Isolation Forest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11"/>
          <p:cNvSpPr/>
          <p:nvPr/>
        </p:nvSpPr>
        <p:spPr>
          <a:xfrm>
            <a:off x="8517960" y="4023360"/>
            <a:ext cx="28321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Isolates outliers with random splits in feature space.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ounded Rectangle 1"/>
          <p:cNvSpPr/>
          <p:nvPr/>
        </p:nvSpPr>
        <p:spPr>
          <a:xfrm>
            <a:off x="567000" y="457200"/>
            <a:ext cx="128880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METHODOLOGY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Thresholding &amp; Evaluation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Picture 3" descr="convae_threshold_tuning_distributions.png"/>
          <p:cNvPicPr/>
          <p:nvPr/>
        </p:nvPicPr>
        <p:blipFill>
          <a:blip r:embed="rId1"/>
          <a:stretch/>
        </p:blipFill>
        <p:spPr>
          <a:xfrm>
            <a:off x="567000" y="1737360"/>
            <a:ext cx="11063880" cy="2942280"/>
          </a:xfrm>
          <a:prstGeom prst="rect">
            <a:avLst/>
          </a:prstGeom>
          <a:ln w="0">
            <a:noFill/>
          </a:ln>
        </p:spPr>
      </p:pic>
      <p:sp>
        <p:nvSpPr>
          <p:cNvPr id="177" name="TextBox 5"/>
          <p:cNvSpPr/>
          <p:nvPr/>
        </p:nvSpPr>
        <p:spPr>
          <a:xfrm>
            <a:off x="3429000" y="5285520"/>
            <a:ext cx="7817760" cy="9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Window scores → file scores by mean aggregation.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Threshold tuned only on the tuning split (balanced accuracy).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Final test untouched; report AUC-ROC / PR (threshold-free).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/>
          <p:nvPr/>
        </p:nvSpPr>
        <p:spPr>
          <a:xfrm>
            <a:off x="731520" y="3123720"/>
            <a:ext cx="1072548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1a1a1a"/>
                </a:solidFill>
                <a:latin typeface="Poppins"/>
              </a:rPr>
              <a:t>Results &amp; Analysis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ounded Rectangle 1"/>
          <p:cNvSpPr/>
          <p:nvPr/>
        </p:nvSpPr>
        <p:spPr>
          <a:xfrm>
            <a:off x="567000" y="457200"/>
            <a:ext cx="88668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RESULTS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Winner: ConvAE + LOF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 3"/>
          <p:cNvSpPr/>
          <p:nvPr/>
        </p:nvSpPr>
        <p:spPr>
          <a:xfrm>
            <a:off x="6062400" y="2743200"/>
            <a:ext cx="17280" cy="2285640"/>
          </a:xfrm>
          <a:prstGeom prst="rect">
            <a:avLst/>
          </a:prstGeom>
          <a:solidFill>
            <a:srgbClr val="222a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4"/>
          <p:cNvSpPr/>
          <p:nvPr/>
        </p:nvSpPr>
        <p:spPr>
          <a:xfrm>
            <a:off x="567000" y="2788920"/>
            <a:ext cx="530316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600" spc="-1" strike="noStrike">
                <a:solidFill>
                  <a:srgbClr val="6094ea"/>
                </a:solidFill>
                <a:latin typeface="Poppins"/>
              </a:rPr>
              <a:t>73.3%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567000" y="4069080"/>
            <a:ext cx="53031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2000" spc="-1" strike="noStrike">
                <a:solidFill>
                  <a:srgbClr val="1a1a1a"/>
                </a:solidFill>
                <a:latin typeface="Poppins"/>
              </a:rPr>
              <a:t>Balanced Accuracy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6"/>
          <p:cNvSpPr/>
          <p:nvPr/>
        </p:nvSpPr>
        <p:spPr>
          <a:xfrm>
            <a:off x="567000" y="4800600"/>
            <a:ext cx="5303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777777"/>
                </a:solidFill>
                <a:latin typeface="Poppins"/>
              </a:rPr>
              <a:t>held-out file-level test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6309360" y="2788920"/>
            <a:ext cx="530316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600" spc="-1" strike="noStrike">
                <a:solidFill>
                  <a:srgbClr val="e23343"/>
                </a:solidFill>
                <a:latin typeface="Poppins"/>
              </a:rPr>
              <a:t>0.788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8"/>
          <p:cNvSpPr/>
          <p:nvPr/>
        </p:nvSpPr>
        <p:spPr>
          <a:xfrm>
            <a:off x="6309360" y="4069080"/>
            <a:ext cx="53031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2000" spc="-1" strike="noStrike">
                <a:solidFill>
                  <a:srgbClr val="1a1a1a"/>
                </a:solidFill>
                <a:latin typeface="Poppins"/>
              </a:rPr>
              <a:t>AUC-ROC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6309360" y="4800600"/>
            <a:ext cx="5303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777777"/>
                </a:solidFill>
                <a:latin typeface="Poppins"/>
              </a:rPr>
              <a:t>threshold-independent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10"/>
          <p:cNvSpPr/>
          <p:nvPr/>
        </p:nvSpPr>
        <p:spPr>
          <a:xfrm>
            <a:off x="567000" y="6172200"/>
            <a:ext cx="110638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777777"/>
                </a:solidFill>
                <a:latin typeface="Poppins"/>
              </a:rPr>
              <a:t>Best assignment-aligned unsupervised method.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ounded Rectangle 1"/>
          <p:cNvSpPr/>
          <p:nvPr/>
        </p:nvSpPr>
        <p:spPr>
          <a:xfrm>
            <a:off x="567000" y="457200"/>
            <a:ext cx="88668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RESULTS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All Methods Compared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Picture 3" descr="all_methods_roc_comparison.png"/>
          <p:cNvPicPr/>
          <p:nvPr/>
        </p:nvPicPr>
        <p:blipFill>
          <a:blip r:embed="rId1"/>
          <a:stretch/>
        </p:blipFill>
        <p:spPr>
          <a:xfrm>
            <a:off x="1252080" y="2148840"/>
            <a:ext cx="4200480" cy="42058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92" name="Table 4"/>
          <p:cNvGraphicFramePr/>
          <p:nvPr/>
        </p:nvGraphicFramePr>
        <p:xfrm>
          <a:off x="5958720" y="2240280"/>
          <a:ext cx="4983120" cy="3620520"/>
        </p:xfrm>
        <a:graphic>
          <a:graphicData uri="http://schemas.openxmlformats.org/drawingml/2006/table">
            <a:tbl>
              <a:tblPr/>
              <a:tblGrid>
                <a:gridCol w="3063240"/>
                <a:gridCol w="960120"/>
                <a:gridCol w="960120"/>
              </a:tblGrid>
              <a:tr h="402120">
                <a:tc>
                  <a:txBody>
                    <a:bodyPr tIns="12600" bIns="126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Poppins"/>
                        </a:rPr>
                        <a:t>Method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2a3a"/>
                    </a:solidFill>
                  </a:tcPr>
                </a:tc>
                <a:tc>
                  <a:txBody>
                    <a:bodyPr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Poppins"/>
                        </a:rPr>
                        <a:t>Bal Acc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2a3a"/>
                    </a:solidFill>
                  </a:tcPr>
                </a:tc>
                <a:tc>
                  <a:txBody>
                    <a:bodyPr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Poppins"/>
                        </a:rPr>
                        <a:t>AUC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2a3a"/>
                    </a:solidFill>
                  </a:tcPr>
                </a:tc>
              </a:tr>
              <a:tr h="402120">
                <a:tc>
                  <a:txBody>
                    <a:bodyPr lIns="50760" rIns="50760" tIns="12600" bIns="126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444444"/>
                          </a:solidFill>
                          <a:latin typeface="Poppins"/>
                        </a:rPr>
                        <a:t>ConvAE Recon Error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444444"/>
                          </a:solidFill>
                          <a:latin typeface="Poppins"/>
                        </a:rPr>
                        <a:t>0.595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444444"/>
                          </a:solidFill>
                          <a:latin typeface="Poppins"/>
                        </a:rPr>
                        <a:t>0.646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50760" rIns="50760" tIns="12600" bIns="126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444444"/>
                          </a:solidFill>
                          <a:latin typeface="Poppins"/>
                        </a:rPr>
                        <a:t>ConvAE + IF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444444"/>
                          </a:solidFill>
                          <a:latin typeface="Poppins"/>
                        </a:rPr>
                        <a:t>0.560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444444"/>
                          </a:solidFill>
                          <a:latin typeface="Poppins"/>
                        </a:rPr>
                        <a:t>0.601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50760" rIns="50760" tIns="12600" bIns="126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1a1a1a"/>
                          </a:solidFill>
                          <a:latin typeface="Poppins"/>
                        </a:rPr>
                        <a:t>ConvAE + LOF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6094ea"/>
                          </a:solidFill>
                          <a:latin typeface="Poppins"/>
                        </a:rPr>
                        <a:t>0.733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6094ea"/>
                          </a:solidFill>
                          <a:latin typeface="Poppins"/>
                        </a:rPr>
                        <a:t>0.788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  <a:tr h="402120">
                <a:tc>
                  <a:txBody>
                    <a:bodyPr lIns="50760" rIns="50760" tIns="12600" bIns="126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444444"/>
                          </a:solidFill>
                          <a:latin typeface="Poppins"/>
                        </a:rPr>
                        <a:t>One-Class SVM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444444"/>
                          </a:solidFill>
                          <a:latin typeface="Poppins"/>
                        </a:rPr>
                        <a:t>0.545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444444"/>
                          </a:solidFill>
                          <a:latin typeface="Poppins"/>
                        </a:rPr>
                        <a:t>0.615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50760" rIns="50760" tIns="12600" bIns="126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777777"/>
                          </a:solidFill>
                          <a:latin typeface="Poppins"/>
                        </a:rPr>
                        <a:t>PANNs + LOF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777777"/>
                          </a:solidFill>
                          <a:latin typeface="Poppins"/>
                        </a:rPr>
                        <a:t>0.702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777777"/>
                          </a:solidFill>
                          <a:latin typeface="Poppins"/>
                        </a:rPr>
                        <a:t>0.761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402120">
                <a:tc>
                  <a:txBody>
                    <a:bodyPr lIns="50760" rIns="50760" tIns="12600" bIns="126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777777"/>
                          </a:solidFill>
                          <a:latin typeface="Poppins"/>
                        </a:rPr>
                        <a:t>SVM-sup (latent)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777777"/>
                          </a:solidFill>
                          <a:latin typeface="Poppins"/>
                        </a:rPr>
                        <a:t>0.827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777777"/>
                          </a:solidFill>
                          <a:latin typeface="Poppins"/>
                        </a:rPr>
                        <a:t>0.953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402120">
                <a:tc>
                  <a:txBody>
                    <a:bodyPr lIns="50760" rIns="50760" tIns="12600" bIns="126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777777"/>
                          </a:solidFill>
                          <a:latin typeface="Poppins"/>
                        </a:rPr>
                        <a:t>XGBoost (latent)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777777"/>
                          </a:solidFill>
                          <a:latin typeface="Poppins"/>
                        </a:rPr>
                        <a:t>0.827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777777"/>
                          </a:solidFill>
                          <a:latin typeface="Poppins"/>
                        </a:rPr>
                        <a:t>0.941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402120">
                <a:tc>
                  <a:txBody>
                    <a:bodyPr lIns="50760" rIns="50760" tIns="12600" bIns="126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777777"/>
                          </a:solidFill>
                          <a:latin typeface="Poppins"/>
                        </a:rPr>
                        <a:t>SVM-sup (MFCC)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777777"/>
                          </a:solidFill>
                          <a:latin typeface="Poppins"/>
                        </a:rPr>
                        <a:t>0.854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lIns="50760" rIns="50760" tIns="12600" bIns="126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777777"/>
                          </a:solidFill>
                          <a:latin typeface="Poppins"/>
                        </a:rPr>
                        <a:t>0.934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  <p:sp>
        <p:nvSpPr>
          <p:cNvPr id="193" name="TextBox 5"/>
          <p:cNvSpPr/>
          <p:nvPr/>
        </p:nvSpPr>
        <p:spPr>
          <a:xfrm>
            <a:off x="5958720" y="5934600"/>
            <a:ext cx="4983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50" spc="-1" strike="noStrike">
                <a:solidFill>
                  <a:srgbClr val="777777"/>
                </a:solidFill>
                <a:latin typeface="Poppins"/>
              </a:rPr>
              <a:t>Grey rows use anomaly labels (diagnostic baselines).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ounded Rectangle 1"/>
          <p:cNvSpPr/>
          <p:nvPr/>
        </p:nvSpPr>
        <p:spPr>
          <a:xfrm>
            <a:off x="567000" y="457200"/>
            <a:ext cx="88668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RESULTS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Why Reconstruction Error Is Weak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Picture 3" descr="convae_final_score_distributions.png"/>
          <p:cNvPicPr/>
          <p:nvPr/>
        </p:nvPicPr>
        <p:blipFill>
          <a:blip r:embed="rId1"/>
          <a:stretch/>
        </p:blipFill>
        <p:spPr>
          <a:xfrm>
            <a:off x="567000" y="1737360"/>
            <a:ext cx="11063880" cy="2944080"/>
          </a:xfrm>
          <a:prstGeom prst="rect">
            <a:avLst/>
          </a:prstGeom>
          <a:ln w="0">
            <a:noFill/>
          </a:ln>
        </p:spPr>
      </p:pic>
      <p:sp>
        <p:nvSpPr>
          <p:cNvPr id="197" name="TextBox 4"/>
          <p:cNvSpPr/>
          <p:nvPr/>
        </p:nvSpPr>
        <p:spPr>
          <a:xfrm>
            <a:off x="567000" y="5578560"/>
            <a:ext cx="301716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100" spc="-1" strike="noStrike">
                <a:solidFill>
                  <a:srgbClr val="1a1a1a"/>
                </a:solidFill>
                <a:latin typeface="Poppins"/>
              </a:rPr>
              <a:t>Overlap vs separation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3813120" y="5286600"/>
            <a:ext cx="7817760" cy="9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Reconstruction-error and IF scores overlap heavily.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LOF separates normal and anomaly files best.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Average pixelwise MSE misses local, textural faults.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ounded Rectangle 1"/>
          <p:cNvSpPr/>
          <p:nvPr/>
        </p:nvSpPr>
        <p:spPr>
          <a:xfrm>
            <a:off x="567000" y="457200"/>
            <a:ext cx="108792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DIAGNOSIS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The ID 06 Problem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Picture 3" descr="per_machine_error_rates.png"/>
          <p:cNvPicPr/>
          <p:nvPr/>
        </p:nvPicPr>
        <p:blipFill>
          <a:blip r:embed="rId1"/>
          <a:stretch/>
        </p:blipFill>
        <p:spPr>
          <a:xfrm>
            <a:off x="567000" y="1737360"/>
            <a:ext cx="11063880" cy="3161880"/>
          </a:xfrm>
          <a:prstGeom prst="rect">
            <a:avLst/>
          </a:prstGeom>
          <a:ln w="0">
            <a:noFill/>
          </a:ln>
        </p:spPr>
      </p:pic>
      <p:sp>
        <p:nvSpPr>
          <p:cNvPr id="202" name="TextBox 4"/>
          <p:cNvSpPr/>
          <p:nvPr/>
        </p:nvSpPr>
        <p:spPr>
          <a:xfrm>
            <a:off x="567000" y="5519520"/>
            <a:ext cx="3017160" cy="67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100" spc="-1" strike="noStrike">
                <a:solidFill>
                  <a:srgbClr val="1a1a1a"/>
                </a:solidFill>
                <a:latin typeface="Poppins"/>
              </a:rPr>
              <a:t>One unseen machine drives false alarms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5"/>
          <p:cNvSpPr/>
          <p:nvPr/>
        </p:nvSpPr>
        <p:spPr>
          <a:xfrm>
            <a:off x="3813120" y="5395320"/>
            <a:ext cx="7817760" cy="9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ID 06 LOF false-positive rate: 51.1%.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Other IDs: 14.5% / 10.2% / 16.3%.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The model confuses a new normal machine with an anomaly.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ounded Rectangle 1"/>
          <p:cNvSpPr/>
          <p:nvPr/>
        </p:nvSpPr>
        <p:spPr>
          <a:xfrm>
            <a:off x="567000" y="457200"/>
            <a:ext cx="108792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DIAGNOSIS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Per-Machine Score Distributions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Picture 3" descr="per_machine_score_distributions.png"/>
          <p:cNvPicPr/>
          <p:nvPr/>
        </p:nvPicPr>
        <p:blipFill>
          <a:blip r:embed="rId1"/>
          <a:stretch/>
        </p:blipFill>
        <p:spPr>
          <a:xfrm>
            <a:off x="2002680" y="1737360"/>
            <a:ext cx="8192520" cy="3291480"/>
          </a:xfrm>
          <a:prstGeom prst="rect">
            <a:avLst/>
          </a:prstGeom>
          <a:ln w="0">
            <a:noFill/>
          </a:ln>
        </p:spPr>
      </p:pic>
      <p:sp>
        <p:nvSpPr>
          <p:cNvPr id="207" name="TextBox 5"/>
          <p:cNvSpPr/>
          <p:nvPr/>
        </p:nvSpPr>
        <p:spPr>
          <a:xfrm>
            <a:off x="2971800" y="5460120"/>
            <a:ext cx="8659080" cy="9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ID 06 normal LOF scores straddle the threshold — the 51% FPR, visually.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For recon error, ID 06 normals sit below threshold (lowest FPR).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45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50" spc="-1" strike="noStrike">
                <a:solidFill>
                  <a:srgbClr val="444444"/>
                </a:solidFill>
                <a:latin typeface="Poppins"/>
              </a:rPr>
              <a:t>The ID 06 problem lives in the latent-density model, not reconstruction.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ounded Rectangle 1"/>
          <p:cNvSpPr/>
          <p:nvPr/>
        </p:nvSpPr>
        <p:spPr>
          <a:xfrm>
            <a:off x="567000" y="457200"/>
            <a:ext cx="108792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DIAGNOSIS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Ablation — Add ID 06 Normals (Protocol 2)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ectangle 3"/>
          <p:cNvSpPr/>
          <p:nvPr/>
        </p:nvSpPr>
        <p:spPr>
          <a:xfrm>
            <a:off x="6062400" y="2743200"/>
            <a:ext cx="17280" cy="2285640"/>
          </a:xfrm>
          <a:prstGeom prst="rect">
            <a:avLst/>
          </a:prstGeom>
          <a:solidFill>
            <a:srgbClr val="222a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4"/>
          <p:cNvSpPr/>
          <p:nvPr/>
        </p:nvSpPr>
        <p:spPr>
          <a:xfrm>
            <a:off x="567000" y="2788920"/>
            <a:ext cx="530316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600" spc="-1" strike="noStrike">
                <a:solidFill>
                  <a:srgbClr val="6094ea"/>
                </a:solidFill>
                <a:latin typeface="Poppins"/>
              </a:rPr>
              <a:t>51% → 40%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5"/>
          <p:cNvSpPr/>
          <p:nvPr/>
        </p:nvSpPr>
        <p:spPr>
          <a:xfrm>
            <a:off x="567000" y="4069080"/>
            <a:ext cx="53031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2000" spc="-1" strike="noStrike">
                <a:solidFill>
                  <a:srgbClr val="1a1a1a"/>
                </a:solidFill>
                <a:latin typeface="Poppins"/>
              </a:rPr>
              <a:t>ID 06 false-positive rate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6"/>
          <p:cNvSpPr/>
          <p:nvPr/>
        </p:nvSpPr>
        <p:spPr>
          <a:xfrm>
            <a:off x="567000" y="4800600"/>
            <a:ext cx="5303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777777"/>
                </a:solidFill>
                <a:latin typeface="Poppins"/>
              </a:rPr>
              <a:t>lower is better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7"/>
          <p:cNvSpPr/>
          <p:nvPr/>
        </p:nvSpPr>
        <p:spPr>
          <a:xfrm>
            <a:off x="6309360" y="2788920"/>
            <a:ext cx="530316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600" spc="-1" strike="noStrike">
                <a:solidFill>
                  <a:srgbClr val="2e9e5b"/>
                </a:solidFill>
                <a:latin typeface="Poppins"/>
              </a:rPr>
              <a:t>0.79 → 0.81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8"/>
          <p:cNvSpPr/>
          <p:nvPr/>
        </p:nvSpPr>
        <p:spPr>
          <a:xfrm>
            <a:off x="6309360" y="4069080"/>
            <a:ext cx="53031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2000" spc="-1" strike="noStrike">
                <a:solidFill>
                  <a:srgbClr val="1a1a1a"/>
                </a:solidFill>
                <a:latin typeface="Poppins"/>
              </a:rPr>
              <a:t>LOF AUC-ROC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9"/>
          <p:cNvSpPr/>
          <p:nvPr/>
        </p:nvSpPr>
        <p:spPr>
          <a:xfrm>
            <a:off x="6309360" y="4800600"/>
            <a:ext cx="53031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777777"/>
                </a:solidFill>
                <a:latin typeface="Poppins"/>
              </a:rPr>
              <a:t>slight overall gain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10"/>
          <p:cNvSpPr/>
          <p:nvPr/>
        </p:nvSpPr>
        <p:spPr>
          <a:xfrm>
            <a:off x="567000" y="6172200"/>
            <a:ext cx="1106388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777777"/>
                </a:solidFill>
                <a:latin typeface="Poppins"/>
              </a:rPr>
              <a:t>ID 06 normals taken from the tuning split — test set unchanged. FNR rises 31.9% → 34.8%: overlap remains, so unseen-machine variation is only a partial cause.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ounded Rectangle 1"/>
          <p:cNvSpPr/>
          <p:nvPr/>
        </p:nvSpPr>
        <p:spPr>
          <a:xfrm>
            <a:off x="567000" y="457200"/>
            <a:ext cx="108792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DIAGNOSIS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The Latent Space Is Only Partly Separable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Picture 3" descr="tsne_embedding_visualization.png"/>
          <p:cNvPicPr/>
          <p:nvPr/>
        </p:nvPicPr>
        <p:blipFill>
          <a:blip r:embed="rId1"/>
          <a:stretch/>
        </p:blipFill>
        <p:spPr>
          <a:xfrm>
            <a:off x="567000" y="1920240"/>
            <a:ext cx="5093280" cy="4525920"/>
          </a:xfrm>
          <a:prstGeom prst="rect">
            <a:avLst/>
          </a:prstGeom>
          <a:ln w="0">
            <a:noFill/>
          </a:ln>
        </p:spPr>
      </p:pic>
      <p:sp>
        <p:nvSpPr>
          <p:cNvPr id="221" name="TextBox 4"/>
          <p:cNvSpPr/>
          <p:nvPr/>
        </p:nvSpPr>
        <p:spPr>
          <a:xfrm>
            <a:off x="6859440" y="3209760"/>
            <a:ext cx="3977280" cy="19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2100" spc="-1" strike="noStrike">
                <a:solidFill>
                  <a:srgbClr val="1a1a1a"/>
                </a:solidFill>
                <a:latin typeface="Poppins"/>
              </a:rPr>
              <a:t>Qualitative view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t-SNE of ConvAE latents on the test set.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Normal and anomaly points partially overlap.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500" spc="-1" strike="noStrike">
                <a:solidFill>
                  <a:srgbClr val="444444"/>
                </a:solidFill>
                <a:latin typeface="Poppins"/>
              </a:rPr>
              <a:t>Consistent with the moderate unsupervised scores.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ounded Rectangle 1"/>
          <p:cNvSpPr/>
          <p:nvPr/>
        </p:nvSpPr>
        <p:spPr>
          <a:xfrm>
            <a:off x="567000" y="457200"/>
            <a:ext cx="108792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DIAGNOSIS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A Diagnostics Recap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ounded Rectangle 3"/>
          <p:cNvSpPr/>
          <p:nvPr/>
        </p:nvSpPr>
        <p:spPr>
          <a:xfrm>
            <a:off x="567000" y="1874520"/>
            <a:ext cx="53456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4"/>
          <p:cNvSpPr/>
          <p:nvPr/>
        </p:nvSpPr>
        <p:spPr>
          <a:xfrm>
            <a:off x="841320" y="2039040"/>
            <a:ext cx="479700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800" spc="-1" strike="noStrike">
                <a:solidFill>
                  <a:srgbClr val="2e9e5b"/>
                </a:solidFill>
                <a:latin typeface="Poppins"/>
              </a:rPr>
              <a:t>✓  </a:t>
            </a:r>
            <a:r>
              <a:rPr b="1" lang="en-US" sz="1800" spc="-1" strike="noStrike">
                <a:solidFill>
                  <a:srgbClr val="1a1a1a"/>
                </a:solidFill>
                <a:latin typeface="Poppins"/>
              </a:rPr>
              <a:t>Normalization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841320" y="2441520"/>
            <a:ext cx="4797000" cy="7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350" spc="-1" strike="noStrike">
                <a:solidFill>
                  <a:srgbClr val="444444"/>
                </a:solidFill>
                <a:latin typeface="Poppins"/>
              </a:rPr>
              <a:t>Fixed dB ref = 1.0, clipped to the training 1st / 99th percentiles (−46 / −10 dB) — absolute loudness preserved, verified on the training distribution.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ounded Rectangle 6"/>
          <p:cNvSpPr/>
          <p:nvPr/>
        </p:nvSpPr>
        <p:spPr>
          <a:xfrm>
            <a:off x="6278760" y="1874520"/>
            <a:ext cx="53456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7"/>
          <p:cNvSpPr/>
          <p:nvPr/>
        </p:nvSpPr>
        <p:spPr>
          <a:xfrm>
            <a:off x="6553080" y="2039040"/>
            <a:ext cx="479700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800" spc="-1" strike="noStrike">
                <a:solidFill>
                  <a:srgbClr val="2e9e5b"/>
                </a:solidFill>
                <a:latin typeface="Poppins"/>
              </a:rPr>
              <a:t>✓  </a:t>
            </a:r>
            <a:r>
              <a:rPr b="1" lang="en-US" sz="1800" spc="-1" strike="noStrike">
                <a:solidFill>
                  <a:srgbClr val="1a1a1a"/>
                </a:solidFill>
                <a:latin typeface="Poppins"/>
              </a:rPr>
              <a:t>Tuning &amp; aggregation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8"/>
          <p:cNvSpPr/>
          <p:nvPr/>
        </p:nvSpPr>
        <p:spPr>
          <a:xfrm>
            <a:off x="6553080" y="2441520"/>
            <a:ext cx="4797000" cy="7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350" spc="-1" strike="noStrike">
                <a:solidFill>
                  <a:srgbClr val="444444"/>
                </a:solidFill>
                <a:latin typeface="Poppins"/>
              </a:rPr>
              <a:t>4 aggregation strategies × 3 tuning metrics swept — mean is the most stable. Thresholds tuned on a separate split, no leakage.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Rounded Rectangle 9"/>
          <p:cNvSpPr/>
          <p:nvPr/>
        </p:nvSpPr>
        <p:spPr>
          <a:xfrm>
            <a:off x="567000" y="3657600"/>
            <a:ext cx="53456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10"/>
          <p:cNvSpPr/>
          <p:nvPr/>
        </p:nvSpPr>
        <p:spPr>
          <a:xfrm>
            <a:off x="841320" y="3822120"/>
            <a:ext cx="479700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800" spc="-1" strike="noStrike">
                <a:solidFill>
                  <a:srgbClr val="2e9e5b"/>
                </a:solidFill>
                <a:latin typeface="Poppins"/>
              </a:rPr>
              <a:t>✓  </a:t>
            </a:r>
            <a:r>
              <a:rPr b="1" lang="en-US" sz="1800" spc="-1" strike="noStrike">
                <a:solidFill>
                  <a:srgbClr val="1a1a1a"/>
                </a:solidFill>
                <a:latin typeface="Poppins"/>
              </a:rPr>
              <a:t>MFCC sanity baseline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11"/>
          <p:cNvSpPr/>
          <p:nvPr/>
        </p:nvSpPr>
        <p:spPr>
          <a:xfrm>
            <a:off x="841320" y="4224600"/>
            <a:ext cx="4797000" cy="7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350" spc="-1" strike="noStrike">
                <a:solidFill>
                  <a:srgbClr val="444444"/>
                </a:solidFill>
                <a:latin typeface="Poppins"/>
              </a:rPr>
              <a:t>With anomaly labels, an SVM on hand-crafted MFCC statistics reaches 0.854 BA (AUC 0.93) — the signal exists; the unsupervised gap is not missing information.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ounded Rectangle 12"/>
          <p:cNvSpPr/>
          <p:nvPr/>
        </p:nvSpPr>
        <p:spPr>
          <a:xfrm>
            <a:off x="6278760" y="3657600"/>
            <a:ext cx="53456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3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13"/>
          <p:cNvSpPr/>
          <p:nvPr/>
        </p:nvSpPr>
        <p:spPr>
          <a:xfrm>
            <a:off x="6553080" y="3822120"/>
            <a:ext cx="479700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800" spc="-1" strike="noStrike">
                <a:solidFill>
                  <a:srgbClr val="2e9e5b"/>
                </a:solidFill>
                <a:latin typeface="Poppins"/>
              </a:rPr>
              <a:t>✓  </a:t>
            </a:r>
            <a:r>
              <a:rPr b="1" lang="en-US" sz="1800" spc="-1" strike="noStrike">
                <a:solidFill>
                  <a:srgbClr val="1a1a1a"/>
                </a:solidFill>
                <a:latin typeface="Poppins"/>
              </a:rPr>
              <a:t>Unseen-machine ablation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14"/>
          <p:cNvSpPr/>
          <p:nvPr/>
        </p:nvSpPr>
        <p:spPr>
          <a:xfrm>
            <a:off x="6553080" y="4224600"/>
            <a:ext cx="479700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350" spc="-1" strike="noStrike">
                <a:solidFill>
                  <a:srgbClr val="444444"/>
                </a:solidFill>
                <a:latin typeface="Poppins"/>
              </a:rPr>
              <a:t>Adding ID 06 normals to training helps only partially (FPR 51% → 40%, FNR rises) — genuine overlap remains.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ounded Rectangle 15"/>
          <p:cNvSpPr/>
          <p:nvPr/>
        </p:nvSpPr>
        <p:spPr>
          <a:xfrm>
            <a:off x="567000" y="5394960"/>
            <a:ext cx="11057400" cy="868320"/>
          </a:xfrm>
          <a:prstGeom prst="roundRect">
            <a:avLst>
              <a:gd name="adj" fmla="val 16667"/>
            </a:avLst>
          </a:prstGeom>
          <a:solidFill>
            <a:srgbClr val="eaf0fc"/>
          </a:solidFill>
          <a:ln w="12700">
            <a:solidFill>
              <a:srgbClr val="6094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16"/>
          <p:cNvSpPr/>
          <p:nvPr/>
        </p:nvSpPr>
        <p:spPr>
          <a:xfrm>
            <a:off x="932760" y="5694840"/>
            <a:ext cx="103258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0000"/>
              </a:lnSpc>
            </a:pPr>
            <a:r>
              <a:rPr b="1" lang="en-US" sz="1600" spc="-1" strike="noStrike">
                <a:solidFill>
                  <a:srgbClr val="6094ea"/>
                </a:solidFill>
                <a:latin typeface="Poppins"/>
              </a:rPr>
              <a:t>⟶  </a:t>
            </a:r>
            <a:r>
              <a:rPr b="1" lang="en-US" sz="1600" spc="-1" strike="noStrike">
                <a:solidFill>
                  <a:srgbClr val="1a1a1a"/>
                </a:solidFill>
                <a:latin typeface="Poppins"/>
              </a:rPr>
              <a:t>The signal exists — but without labels, subtle faults overlap with normal machine variation.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ounded Rectangle 1"/>
          <p:cNvSpPr/>
          <p:nvPr/>
        </p:nvSpPr>
        <p:spPr>
          <a:xfrm>
            <a:off x="567000" y="457200"/>
            <a:ext cx="1188360" cy="328680"/>
          </a:xfrm>
          <a:prstGeom prst="roundRect">
            <a:avLst>
              <a:gd name="adj" fmla="val 16667"/>
            </a:avLst>
          </a:prstGeom>
          <a:solidFill>
            <a:srgbClr val="d5d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a3a55"/>
                </a:solidFill>
                <a:latin typeface="Poppins"/>
              </a:rPr>
              <a:t>CONCLUSION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2"/>
          <p:cNvSpPr/>
          <p:nvPr/>
        </p:nvSpPr>
        <p:spPr>
          <a:xfrm>
            <a:off x="567000" y="914400"/>
            <a:ext cx="11063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en-US" sz="3300" spc="-1" strike="noStrike">
                <a:solidFill>
                  <a:srgbClr val="1a1a1a"/>
                </a:solidFill>
                <a:latin typeface="Poppins"/>
              </a:rPr>
              <a:t>Conclusion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Picture 3" descr="sample_log_mel_spectrograms.png"/>
          <p:cNvPicPr/>
          <p:nvPr/>
        </p:nvPicPr>
        <p:blipFill>
          <a:blip r:embed="rId1"/>
          <a:stretch/>
        </p:blipFill>
        <p:spPr>
          <a:xfrm>
            <a:off x="2451960" y="1691640"/>
            <a:ext cx="7294320" cy="3108600"/>
          </a:xfrm>
          <a:prstGeom prst="rect">
            <a:avLst/>
          </a:prstGeom>
          <a:ln w="0">
            <a:noFill/>
          </a:ln>
        </p:spPr>
      </p:pic>
      <p:sp>
        <p:nvSpPr>
          <p:cNvPr id="241" name="TextBox 4"/>
          <p:cNvSpPr/>
          <p:nvPr/>
        </p:nvSpPr>
        <p:spPr>
          <a:xfrm>
            <a:off x="2514600" y="5029200"/>
            <a:ext cx="8348400" cy="12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800" spc="-1" strike="noStrike">
                <a:solidFill>
                  <a:srgbClr val="6094ea"/>
                </a:solidFill>
                <a:latin typeface="Poppins"/>
              </a:rPr>
              <a:t>Achieved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99"/>
              </a:spcAft>
            </a:pPr>
            <a:r>
              <a:rPr b="1" lang="en-US" sz="14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00" spc="-1" strike="noStrike">
                <a:solidFill>
                  <a:srgbClr val="444444"/>
                </a:solidFill>
                <a:latin typeface="Poppins"/>
              </a:rPr>
              <a:t>ConvAE latent space + LOF: 0.733 BA / 0.788 AUC, fully unsupervised.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99"/>
              </a:spcAft>
            </a:pPr>
            <a:r>
              <a:rPr b="1" lang="en-US" sz="14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00" spc="-1" strike="noStrike">
                <a:solidFill>
                  <a:srgbClr val="444444"/>
                </a:solidFill>
                <a:latin typeface="Poppins"/>
              </a:rPr>
              <a:t>Reconstruction error alone is insufficient for subtle pump faults.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99"/>
              </a:spcAft>
            </a:pPr>
            <a:r>
              <a:rPr b="1" lang="en-US" sz="1400" spc="-1" strike="noStrike">
                <a:solidFill>
                  <a:srgbClr val="6094ea"/>
                </a:solidFill>
                <a:latin typeface="Poppins"/>
              </a:rPr>
              <a:t>•  </a:t>
            </a:r>
            <a:r>
              <a:rPr b="0" lang="en-US" sz="1400" spc="-1" strike="noStrike">
                <a:solidFill>
                  <a:srgbClr val="444444"/>
                </a:solidFill>
                <a:latin typeface="Poppins"/>
              </a:rPr>
              <a:t>Diagnosed the unseen-machine (ID 06) false-positive effect.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"/>
          <p:cNvSpPr/>
          <p:nvPr/>
        </p:nvSpPr>
        <p:spPr>
          <a:xfrm>
            <a:off x="731520" y="2907720"/>
            <a:ext cx="1072548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4400" spc="-1" strike="noStrike">
                <a:solidFill>
                  <a:srgbClr val="1a1a1a"/>
                </a:solidFill>
                <a:latin typeface="Poppins"/>
              </a:rPr>
              <a:t>Thank you.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777777"/>
                </a:solidFill>
                <a:latin typeface="Poppins"/>
              </a:rPr>
              <a:t>Questions?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2026-07-06T18:11:13Z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